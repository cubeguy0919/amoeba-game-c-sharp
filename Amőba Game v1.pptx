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5" r:id="rId5"/>
    <p:sldId id="266" r:id="rId6"/>
    <p:sldId id="262" r:id="rId7"/>
    <p:sldId id="263" r:id="rId8"/>
    <p:sldId id="264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8DC1"/>
    <a:srgbClr val="178DBB"/>
    <a:srgbClr val="1E293B"/>
    <a:srgbClr val="1E1E29"/>
    <a:srgbClr val="9FD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éma alapján készült stílus 1 – 3. jelölőszín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éma alapján készült stílus 1 – 2. jelölőszín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emf"/><Relationship Id="rId7" Type="http://schemas.openxmlformats.org/officeDocument/2006/relationships/image" Target="../media/image10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791190" y="4231650"/>
            <a:ext cx="9945181" cy="2262781"/>
          </a:xfrm>
        </p:spPr>
        <p:txBody>
          <a:bodyPr>
            <a:normAutofit fontScale="90000"/>
          </a:bodyPr>
          <a:lstStyle/>
          <a:p>
            <a:r>
              <a:rPr lang="hu-HU" sz="6000" b="1" dirty="0"/>
              <a:t>Amőba </a:t>
            </a:r>
            <a:r>
              <a:rPr lang="hu-HU" sz="6000" b="1" dirty="0" smtClean="0"/>
              <a:t>Game v1.0</a:t>
            </a:r>
            <a:br>
              <a:rPr lang="hu-HU" sz="6000" b="1" dirty="0" smtClean="0"/>
            </a:br>
            <a:r>
              <a:rPr lang="hu-HU" sz="4000" dirty="0" smtClean="0"/>
              <a:t>Felhasználói </a:t>
            </a:r>
            <a:r>
              <a:rPr lang="hu-HU" sz="4000" dirty="0"/>
              <a:t>Útmutató és Kód Struktúra</a:t>
            </a:r>
            <a:r>
              <a:rPr lang="hu-HU" sz="6000" b="1" dirty="0"/>
              <a:t/>
            </a:r>
            <a:br>
              <a:rPr lang="hu-HU" sz="6000" b="1" dirty="0"/>
            </a:br>
            <a:endParaRPr lang="hu-HU" sz="600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960872" y="5697609"/>
            <a:ext cx="8915399" cy="1126283"/>
          </a:xfrm>
        </p:spPr>
        <p:txBody>
          <a:bodyPr>
            <a:normAutofit/>
          </a:bodyPr>
          <a:lstStyle/>
          <a:p>
            <a:r>
              <a:rPr lang="hu-HU" sz="2800" dirty="0" smtClean="0"/>
              <a:t>Készítette: </a:t>
            </a:r>
            <a:r>
              <a:rPr lang="hu-HU" sz="2800" dirty="0" err="1" smtClean="0"/>
              <a:t>Párványik</a:t>
            </a:r>
            <a:r>
              <a:rPr lang="hu-HU" sz="2800" dirty="0" smtClean="0"/>
              <a:t> Dániel</a:t>
            </a:r>
            <a:endParaRPr lang="hu-HU" sz="2800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886" y="257695"/>
            <a:ext cx="4133781" cy="4114801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 rotWithShape="1">
          <a:blip r:embed="rId3"/>
          <a:srcRect b="13166"/>
          <a:stretch/>
        </p:blipFill>
        <p:spPr>
          <a:xfrm>
            <a:off x="7061201" y="-394239"/>
            <a:ext cx="5465248" cy="5073251"/>
          </a:xfrm>
          <a:prstGeom prst="rect">
            <a:avLst/>
          </a:prstGeom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040" y="1828800"/>
            <a:ext cx="895778" cy="900169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774045">
            <a:off x="9354403" y="1832030"/>
            <a:ext cx="895778" cy="900169"/>
          </a:xfrm>
          <a:prstGeom prst="rect">
            <a:avLst/>
          </a:prstGeom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782655">
            <a:off x="10701955" y="1828546"/>
            <a:ext cx="895778" cy="9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06778" y="2834167"/>
            <a:ext cx="11450440" cy="2262781"/>
          </a:xfrm>
        </p:spPr>
        <p:txBody>
          <a:bodyPr>
            <a:normAutofit/>
          </a:bodyPr>
          <a:lstStyle/>
          <a:p>
            <a:pPr algn="ctr"/>
            <a:r>
              <a:rPr lang="hu-HU" sz="7200" b="1" dirty="0">
                <a:solidFill>
                  <a:srgbClr val="198DC1"/>
                </a:solidFill>
              </a:rPr>
              <a:t>Felhasználói Útmutató</a:t>
            </a:r>
            <a:r>
              <a:rPr lang="hu-HU" b="1" dirty="0"/>
              <a:t/>
            </a:r>
            <a:br>
              <a:rPr lang="hu-HU" b="1" dirty="0"/>
            </a:br>
            <a:endParaRPr lang="hu-HU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74298" y="4533806"/>
            <a:ext cx="8915399" cy="112628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hu-HU" sz="3200" dirty="0">
                <a:solidFill>
                  <a:schemeClr val="bg1"/>
                </a:solidFill>
              </a:rPr>
              <a:t>Hogyan irányítsuk és használjuk a programot?</a:t>
            </a:r>
          </a:p>
          <a:p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cxnSp>
        <p:nvCxnSpPr>
          <p:cNvPr id="8" name="Egyenes összekötő 7"/>
          <p:cNvCxnSpPr/>
          <p:nvPr/>
        </p:nvCxnSpPr>
        <p:spPr>
          <a:xfrm flipH="1">
            <a:off x="5368809" y="2751038"/>
            <a:ext cx="1526375" cy="2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25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/>
        </p:nvPicPr>
        <p:blipFill rotWithShape="1">
          <a:blip r:embed="rId4"/>
          <a:srcRect l="3927" t="8781" r="4863" b="8486"/>
          <a:stretch/>
        </p:blipFill>
        <p:spPr>
          <a:xfrm>
            <a:off x="6339432" y="1981355"/>
            <a:ext cx="5511338" cy="4199312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17231" y="473826"/>
            <a:ext cx="11450440" cy="2262781"/>
          </a:xfrm>
        </p:spPr>
        <p:txBody>
          <a:bodyPr>
            <a:normAutofit fontScale="90000"/>
          </a:bodyPr>
          <a:lstStyle/>
          <a:p>
            <a:r>
              <a:rPr lang="hu-HU" sz="6700" b="1" dirty="0"/>
              <a:t>Játék Indítása és Navigáció</a:t>
            </a:r>
            <a:r>
              <a:rPr lang="hu-HU" b="1" dirty="0"/>
              <a:t/>
            </a:r>
            <a:br>
              <a:rPr lang="hu-HU" b="1" dirty="0"/>
            </a:br>
            <a:r>
              <a:rPr lang="hu-HU" b="1" dirty="0"/>
              <a:t/>
            </a:r>
            <a:br>
              <a:rPr lang="hu-HU" b="1" dirty="0"/>
            </a:br>
            <a:endParaRPr lang="hu-HU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Kép 11"/>
          <p:cNvPicPr>
            <a:picLocks noChangeAspect="1"/>
          </p:cNvPicPr>
          <p:nvPr/>
        </p:nvPicPr>
        <p:blipFill rotWithShape="1">
          <a:blip r:embed="rId4"/>
          <a:srcRect l="39178" t="13522" r="9233" b="62371"/>
          <a:stretch/>
        </p:blipFill>
        <p:spPr>
          <a:xfrm>
            <a:off x="6590916" y="4140200"/>
            <a:ext cx="3200400" cy="1066800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 rotWithShape="1">
          <a:blip r:embed="rId4"/>
          <a:srcRect l="39178" t="13522" r="9233" b="62371"/>
          <a:stretch/>
        </p:blipFill>
        <p:spPr>
          <a:xfrm>
            <a:off x="6590916" y="3606800"/>
            <a:ext cx="3200400" cy="1066800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 rotWithShape="1">
          <a:blip r:embed="rId4"/>
          <a:srcRect l="39178" t="13522" r="9233" b="62371"/>
          <a:stretch/>
        </p:blipFill>
        <p:spPr>
          <a:xfrm>
            <a:off x="8191116" y="4244136"/>
            <a:ext cx="3200400" cy="1066800"/>
          </a:xfrm>
          <a:prstGeom prst="rect">
            <a:avLst/>
          </a:prstGeom>
        </p:spPr>
      </p:pic>
      <p:pic>
        <p:nvPicPr>
          <p:cNvPr id="15" name="Kép 14"/>
          <p:cNvPicPr>
            <a:picLocks noChangeAspect="1"/>
          </p:cNvPicPr>
          <p:nvPr/>
        </p:nvPicPr>
        <p:blipFill rotWithShape="1">
          <a:blip r:embed="rId4"/>
          <a:srcRect l="39178" t="13522" r="9233" b="62371"/>
          <a:stretch/>
        </p:blipFill>
        <p:spPr>
          <a:xfrm>
            <a:off x="7972426" y="3658768"/>
            <a:ext cx="3200400" cy="1066800"/>
          </a:xfrm>
          <a:prstGeom prst="rect">
            <a:avLst/>
          </a:prstGeom>
        </p:spPr>
      </p:pic>
      <p:pic>
        <p:nvPicPr>
          <p:cNvPr id="16" name="Kép 15"/>
          <p:cNvPicPr>
            <a:picLocks noChangeAspect="1"/>
          </p:cNvPicPr>
          <p:nvPr/>
        </p:nvPicPr>
        <p:blipFill rotWithShape="1">
          <a:blip r:embed="rId4"/>
          <a:srcRect l="39178" t="13522" r="9233" b="62371"/>
          <a:stretch/>
        </p:blipFill>
        <p:spPr>
          <a:xfrm>
            <a:off x="6540229" y="3177336"/>
            <a:ext cx="3200400" cy="1066800"/>
          </a:xfrm>
          <a:prstGeom prst="rect">
            <a:avLst/>
          </a:prstGeom>
        </p:spPr>
      </p:pic>
      <p:pic>
        <p:nvPicPr>
          <p:cNvPr id="17" name="Kép 16"/>
          <p:cNvPicPr>
            <a:picLocks noChangeAspect="1"/>
          </p:cNvPicPr>
          <p:nvPr/>
        </p:nvPicPr>
        <p:blipFill rotWithShape="1">
          <a:blip r:embed="rId4"/>
          <a:srcRect l="7941" t="18137" r="79868" b="69617"/>
          <a:stretch/>
        </p:blipFill>
        <p:spPr>
          <a:xfrm>
            <a:off x="6464029" y="2222701"/>
            <a:ext cx="1108906" cy="794698"/>
          </a:xfrm>
          <a:prstGeom prst="rect">
            <a:avLst/>
          </a:prstGeom>
        </p:spPr>
      </p:pic>
      <p:sp>
        <p:nvSpPr>
          <p:cNvPr id="18" name="Felfelé nyíl 17"/>
          <p:cNvSpPr/>
          <p:nvPr/>
        </p:nvSpPr>
        <p:spPr>
          <a:xfrm>
            <a:off x="8748476" y="3414594"/>
            <a:ext cx="393861" cy="357936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9" name="Felfelé nyíl 18"/>
          <p:cNvSpPr/>
          <p:nvPr/>
        </p:nvSpPr>
        <p:spPr>
          <a:xfrm rot="10800000">
            <a:off x="9309870" y="3426767"/>
            <a:ext cx="393861" cy="357936"/>
          </a:xfrm>
          <a:prstGeom prst="up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1" name="Kép 20"/>
          <p:cNvPicPr>
            <a:picLocks noChangeAspect="1"/>
          </p:cNvPicPr>
          <p:nvPr/>
        </p:nvPicPr>
        <p:blipFill rotWithShape="1">
          <a:blip r:embed="rId4"/>
          <a:srcRect l="32152" t="12784" r="20696" b="64033"/>
          <a:stretch/>
        </p:blipFill>
        <p:spPr>
          <a:xfrm>
            <a:off x="6525524" y="4727698"/>
            <a:ext cx="2849148" cy="1176712"/>
          </a:xfrm>
          <a:prstGeom prst="rect">
            <a:avLst/>
          </a:prstGeom>
        </p:spPr>
      </p:pic>
      <p:sp>
        <p:nvSpPr>
          <p:cNvPr id="10" name="Alcím 2"/>
          <p:cNvSpPr>
            <a:spLocks noGrp="1"/>
          </p:cNvSpPr>
          <p:nvPr>
            <p:ph type="subTitle" idx="1"/>
          </p:nvPr>
        </p:nvSpPr>
        <p:spPr>
          <a:xfrm>
            <a:off x="6600338" y="2873933"/>
            <a:ext cx="5325246" cy="3111076"/>
          </a:xfrm>
        </p:spPr>
        <p:txBody>
          <a:bodyPr>
            <a:normAutofit fontScale="25000" lnSpcReduction="20000"/>
          </a:bodyPr>
          <a:lstStyle/>
          <a:p>
            <a:pPr>
              <a:spcAft>
                <a:spcPts val="600"/>
              </a:spcAft>
            </a:pPr>
            <a:r>
              <a:rPr lang="hu-HU" sz="12800" b="1" dirty="0">
                <a:solidFill>
                  <a:schemeClr val="bg1"/>
                </a:solidFill>
              </a:rPr>
              <a:t>Vezérlés</a:t>
            </a:r>
            <a:endParaRPr lang="hu-HU" b="1" dirty="0">
              <a:solidFill>
                <a:schemeClr val="bg1"/>
              </a:solidFill>
            </a:endParaRP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hu-HU" sz="96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menüben a      </a:t>
            </a:r>
            <a:r>
              <a:rPr lang="hu-HU" sz="112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nyilakkal navigálhatunk. 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kiválasztott opciót az </a:t>
            </a:r>
            <a:r>
              <a:rPr lang="hu-HU" sz="96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gombbal indíthatjuk el.</a:t>
            </a:r>
          </a:p>
          <a:p>
            <a:pPr defTabSz="91440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hu-HU" sz="9600" dirty="0" err="1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főmenüben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választhatunk új </a:t>
            </a:r>
            <a:r>
              <a:rPr lang="hu-HU" sz="96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indítása 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vagy egy korábbi </a:t>
            </a:r>
            <a:r>
              <a:rPr lang="hu-HU" sz="96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betöltése </a:t>
            </a:r>
            <a:r>
              <a:rPr lang="hu-HU" sz="96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között.</a:t>
            </a:r>
          </a:p>
          <a:p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pic>
        <p:nvPicPr>
          <p:cNvPr id="4" name="Code Menu Running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4512" y="2673456"/>
            <a:ext cx="5759854" cy="3037423"/>
          </a:xfrm>
          <a:prstGeom prst="rect">
            <a:avLst/>
          </a:prstGeom>
          <a:ln w="63500" cap="sq">
            <a:solidFill>
              <a:srgbClr val="FFFFFF"/>
            </a:solidFill>
            <a:prstDash val="solid"/>
            <a:miter lim="800000"/>
          </a:ln>
          <a:effectLst/>
          <a:scene3d>
            <a:camera prst="orthographicFront"/>
            <a:lightRig rig="soft" dir="t"/>
          </a:scene3d>
          <a:sp3d contourW="6350">
            <a:contourClr>
              <a:srgbClr val="000000"/>
            </a:contourClr>
          </a:sp3d>
        </p:spPr>
      </p:pic>
    </p:spTree>
    <p:extLst>
      <p:ext uri="{BB962C8B-B14F-4D97-AF65-F5344CB8AC3E}">
        <p14:creationId xmlns:p14="http://schemas.microsoft.com/office/powerpoint/2010/main" val="198321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8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Kép 31"/>
          <p:cNvPicPr>
            <a:picLocks noChangeAspect="1"/>
          </p:cNvPicPr>
          <p:nvPr/>
        </p:nvPicPr>
        <p:blipFill rotWithShape="1">
          <a:blip r:embed="rId2"/>
          <a:srcRect t="3858" r="50728"/>
          <a:stretch/>
        </p:blipFill>
        <p:spPr>
          <a:xfrm>
            <a:off x="609049" y="1255528"/>
            <a:ext cx="5502482" cy="2909851"/>
          </a:xfrm>
          <a:prstGeom prst="rect">
            <a:avLst/>
          </a:prstGeom>
        </p:spPr>
      </p:pic>
      <p:pic>
        <p:nvPicPr>
          <p:cNvPr id="28" name="Kép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26" y="4165379"/>
            <a:ext cx="5758470" cy="2576245"/>
          </a:xfrm>
          <a:prstGeom prst="rect">
            <a:avLst/>
          </a:prstGeom>
        </p:spPr>
      </p:pic>
      <p:pic>
        <p:nvPicPr>
          <p:cNvPr id="22" name="Kép 21"/>
          <p:cNvPicPr>
            <a:picLocks noChangeAspect="1"/>
          </p:cNvPicPr>
          <p:nvPr/>
        </p:nvPicPr>
        <p:blipFill rotWithShape="1">
          <a:blip r:embed="rId2"/>
          <a:srcRect l="49381" t="3858" r="369"/>
          <a:stretch/>
        </p:blipFill>
        <p:spPr>
          <a:xfrm>
            <a:off x="6102598" y="1255529"/>
            <a:ext cx="5611665" cy="1640210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09326" y="1229266"/>
            <a:ext cx="11450440" cy="2262781"/>
          </a:xfrm>
        </p:spPr>
        <p:txBody>
          <a:bodyPr>
            <a:noAutofit/>
          </a:bodyPr>
          <a:lstStyle/>
          <a:p>
            <a:r>
              <a:rPr lang="hu-HU" sz="5000" b="1" dirty="0"/>
              <a:t>Kétlépcsős </a:t>
            </a:r>
            <a:r>
              <a:rPr lang="hu-HU" sz="5000" b="1" dirty="0"/>
              <a:t>Menürendszer</a:t>
            </a:r>
            <a:r>
              <a:rPr lang="hu-HU" b="1" cap="all" dirty="0"/>
              <a:t/>
            </a:r>
            <a:br>
              <a:rPr lang="hu-HU" b="1" cap="all" dirty="0"/>
            </a:br>
            <a:r>
              <a:rPr lang="hu-HU" sz="5000" b="1" dirty="0"/>
              <a:t/>
            </a:r>
            <a:br>
              <a:rPr lang="hu-HU" sz="5000" b="1" dirty="0"/>
            </a:br>
            <a:r>
              <a:rPr lang="hu-HU" sz="5000" dirty="0"/>
              <a:t/>
            </a:r>
            <a:br>
              <a:rPr lang="hu-HU" sz="5000" dirty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/>
          <a:srcRect l="12487" t="5490" r="55974" b="65947"/>
          <a:stretch/>
        </p:blipFill>
        <p:spPr>
          <a:xfrm>
            <a:off x="821264" y="1970116"/>
            <a:ext cx="4813561" cy="1443359"/>
          </a:xfrm>
          <a:prstGeom prst="rect">
            <a:avLst/>
          </a:prstGeom>
        </p:spPr>
      </p:pic>
      <p:pic>
        <p:nvPicPr>
          <p:cNvPr id="23" name="Kép 22"/>
          <p:cNvPicPr>
            <a:picLocks noChangeAspect="1"/>
          </p:cNvPicPr>
          <p:nvPr/>
        </p:nvPicPr>
        <p:blipFill rotWithShape="1">
          <a:blip r:embed="rId2"/>
          <a:srcRect l="12487" t="5490" r="55974" b="65947"/>
          <a:stretch/>
        </p:blipFill>
        <p:spPr>
          <a:xfrm>
            <a:off x="6495141" y="1468505"/>
            <a:ext cx="4813561" cy="1186689"/>
          </a:xfrm>
          <a:prstGeom prst="rect">
            <a:avLst/>
          </a:prstGeom>
        </p:spPr>
      </p:pic>
      <p:sp>
        <p:nvSpPr>
          <p:cNvPr id="9" name="Téglalap 8"/>
          <p:cNvSpPr/>
          <p:nvPr/>
        </p:nvSpPr>
        <p:spPr>
          <a:xfrm>
            <a:off x="6559658" y="2003369"/>
            <a:ext cx="4756300" cy="11233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hu-HU" sz="2000" b="1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Játékmeneti Menü</a:t>
            </a:r>
          </a:p>
          <a:p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Aktív játék során megjelenő funkciók: </a:t>
            </a:r>
            <a:endParaRPr lang="hu-HU" sz="2000" dirty="0" smtClean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u-HU" sz="2200" b="1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Kép 24"/>
          <p:cNvPicPr>
            <a:picLocks noChangeAspect="1"/>
          </p:cNvPicPr>
          <p:nvPr/>
        </p:nvPicPr>
        <p:blipFill rotWithShape="1">
          <a:blip r:embed="rId2"/>
          <a:srcRect l="53833" t="12749" r="39989" b="67670"/>
          <a:stretch/>
        </p:blipFill>
        <p:spPr>
          <a:xfrm>
            <a:off x="6552402" y="1385839"/>
            <a:ext cx="689956" cy="465513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 rotWithShape="1">
          <a:blip r:embed="rId2"/>
          <a:srcRect l="12487" t="5490" r="55974" b="65947"/>
          <a:stretch/>
        </p:blipFill>
        <p:spPr>
          <a:xfrm>
            <a:off x="971661" y="1302973"/>
            <a:ext cx="2919253" cy="667144"/>
          </a:xfrm>
          <a:prstGeom prst="rect">
            <a:avLst/>
          </a:prstGeom>
        </p:spPr>
      </p:pic>
      <p:pic>
        <p:nvPicPr>
          <p:cNvPr id="29" name="Kép 28"/>
          <p:cNvPicPr>
            <a:picLocks noChangeAspect="1"/>
          </p:cNvPicPr>
          <p:nvPr/>
        </p:nvPicPr>
        <p:blipFill rotWithShape="1">
          <a:blip r:embed="rId3"/>
          <a:srcRect l="7578" t="27992" r="74022" b="24869"/>
          <a:stretch/>
        </p:blipFill>
        <p:spPr>
          <a:xfrm>
            <a:off x="509326" y="4179574"/>
            <a:ext cx="2152996" cy="964277"/>
          </a:xfrm>
          <a:prstGeom prst="rect">
            <a:avLst/>
          </a:prstGeom>
        </p:spPr>
      </p:pic>
      <p:pic>
        <p:nvPicPr>
          <p:cNvPr id="24" name="Kép 23"/>
          <p:cNvPicPr>
            <a:picLocks noChangeAspect="1"/>
          </p:cNvPicPr>
          <p:nvPr/>
        </p:nvPicPr>
        <p:blipFill rotWithShape="1">
          <a:blip r:embed="rId2"/>
          <a:srcRect l="2844" t="10851" r="91350" b="68170"/>
          <a:stretch/>
        </p:blipFill>
        <p:spPr>
          <a:xfrm>
            <a:off x="971661" y="1357406"/>
            <a:ext cx="648392" cy="498764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30" y="4290338"/>
            <a:ext cx="5609726" cy="2342886"/>
          </a:xfrm>
          <a:prstGeom prst="rect">
            <a:avLst/>
          </a:prstGeom>
        </p:spPr>
      </p:pic>
      <p:pic>
        <p:nvPicPr>
          <p:cNvPr id="30" name="Kép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631" y="2926082"/>
            <a:ext cx="3513598" cy="3740726"/>
          </a:xfrm>
          <a:prstGeom prst="rect">
            <a:avLst/>
          </a:prstGeom>
        </p:spPr>
      </p:pic>
      <p:pic>
        <p:nvPicPr>
          <p:cNvPr id="31" name="Kép 30"/>
          <p:cNvPicPr>
            <a:picLocks noChangeAspect="1"/>
          </p:cNvPicPr>
          <p:nvPr/>
        </p:nvPicPr>
        <p:blipFill rotWithShape="1">
          <a:blip r:embed="rId3"/>
          <a:srcRect l="7578" t="27992" r="74022" b="24869"/>
          <a:stretch/>
        </p:blipFill>
        <p:spPr>
          <a:xfrm>
            <a:off x="7123234" y="2954106"/>
            <a:ext cx="2152996" cy="964277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3919" y="3051588"/>
            <a:ext cx="3350516" cy="3556853"/>
          </a:xfrm>
          <a:prstGeom prst="rect">
            <a:avLst/>
          </a:prstGeom>
        </p:spPr>
      </p:pic>
      <p:sp>
        <p:nvSpPr>
          <p:cNvPr id="12" name="Téglalap 11"/>
          <p:cNvSpPr/>
          <p:nvPr/>
        </p:nvSpPr>
        <p:spPr>
          <a:xfrm>
            <a:off x="1052262" y="2543388"/>
            <a:ext cx="49661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hu-HU" b="1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Új Játék</a:t>
            </a:r>
            <a:r>
              <a:rPr lang="hu-HU" b="1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Tiszta lappal indulsz, te adod meg a pálya méretét.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Betöltés</a:t>
            </a:r>
            <a:r>
              <a:rPr lang="hu-HU" b="1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Onnan folytatod, ahol legutóbb abbahagytad.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u-HU" b="1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Kilépés</a:t>
            </a:r>
            <a:r>
              <a:rPr lang="hu-HU" b="1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Bezárja a programot.</a:t>
            </a:r>
            <a:endParaRPr lang="hu-HU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971661" y="1853739"/>
            <a:ext cx="4806265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hu-HU" sz="2000" b="1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Indító Menü</a:t>
            </a:r>
          </a:p>
          <a:p>
            <a:pPr>
              <a:spcAft>
                <a:spcPts val="600"/>
              </a:spcAft>
            </a:pPr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szoftver indításakor elérhető opciók: </a:t>
            </a:r>
            <a:endParaRPr lang="hu-HU" sz="2000" dirty="0" smtClean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404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42577" y="958180"/>
            <a:ext cx="11450440" cy="1665161"/>
          </a:xfrm>
        </p:spPr>
        <p:txBody>
          <a:bodyPr>
            <a:noAutofit/>
          </a:bodyPr>
          <a:lstStyle/>
          <a:p>
            <a:r>
              <a:rPr lang="hu-HU" b="1" dirty="0" smtClean="0"/>
              <a:t>Játékmenet </a:t>
            </a:r>
            <a:r>
              <a:rPr lang="hu-HU" b="1" dirty="0"/>
              <a:t/>
            </a:r>
            <a:br>
              <a:rPr lang="hu-HU" b="1" dirty="0"/>
            </a:br>
            <a:r>
              <a:rPr lang="hu-HU" b="1" cap="all" dirty="0"/>
              <a:t/>
            </a:r>
            <a:br>
              <a:rPr lang="hu-HU" b="1" cap="all" dirty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43299" y="193492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Kép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490" y="0"/>
            <a:ext cx="5120641" cy="6816435"/>
          </a:xfrm>
          <a:prstGeom prst="rect">
            <a:avLst/>
          </a:prstGeom>
        </p:spPr>
      </p:pic>
      <p:pic>
        <p:nvPicPr>
          <p:cNvPr id="31" name="Kép 30"/>
          <p:cNvPicPr>
            <a:picLocks noChangeAspect="1"/>
          </p:cNvPicPr>
          <p:nvPr/>
        </p:nvPicPr>
        <p:blipFill rotWithShape="1">
          <a:blip r:embed="rId2"/>
          <a:srcRect l="7578" t="27992" r="74022" b="24869"/>
          <a:stretch/>
        </p:blipFill>
        <p:spPr>
          <a:xfrm>
            <a:off x="6525490" y="123685"/>
            <a:ext cx="3152992" cy="1412152"/>
          </a:xfrm>
          <a:prstGeom prst="rect">
            <a:avLst/>
          </a:prstGeom>
        </p:spPr>
      </p:pic>
      <p:pic>
        <p:nvPicPr>
          <p:cNvPr id="4" name="Kép 3"/>
          <p:cNvPicPr>
            <a:picLocks noChangeAspect="1"/>
          </p:cNvPicPr>
          <p:nvPr/>
        </p:nvPicPr>
        <p:blipFill rotWithShape="1">
          <a:blip r:embed="rId3"/>
          <a:srcRect r="50080"/>
          <a:stretch/>
        </p:blipFill>
        <p:spPr>
          <a:xfrm>
            <a:off x="574932" y="1187091"/>
            <a:ext cx="5177475" cy="2794703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 rotWithShape="1">
          <a:blip r:embed="rId3"/>
          <a:srcRect l="23123" t="16096" r="58682" b="63985"/>
          <a:stretch/>
        </p:blipFill>
        <p:spPr>
          <a:xfrm>
            <a:off x="872836" y="1514271"/>
            <a:ext cx="4596939" cy="2218141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717145" y="1187091"/>
            <a:ext cx="4885633" cy="287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2539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2400" b="1" i="0" u="none" strike="noStrike" cap="none" normalizeH="0" baseline="0" dirty="0" smtClean="0">
                <a:ln>
                  <a:noFill/>
                </a:ln>
                <a:solidFill>
                  <a:srgbClr val="94A3B8"/>
                </a:solidFill>
                <a:effectLst/>
                <a:cs typeface="Arial" panose="020B0604020202020204" pitchFamily="34" charset="0"/>
              </a:rPr>
              <a:t>Testreszabott élmény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Az </a:t>
            </a:r>
            <a:r>
              <a:rPr kumimoji="0" lang="hu-HU" altLang="hu-HU" sz="1600" b="1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Új Game 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indításakor a </a:t>
            </a:r>
            <a:r>
              <a:rPr kumimoji="0" lang="hu-HU" altLang="hu-HU" sz="1600" b="1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Játékos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 határozza meg a kihívás mértékét:</a:t>
            </a:r>
          </a:p>
          <a:p>
            <a:pPr lvl="1" defTabSz="914400">
              <a:spcAft>
                <a:spcPts val="600"/>
              </a:spcAft>
            </a:pPr>
            <a:r>
              <a:rPr kumimoji="0" lang="hu-HU" altLang="hu-HU" sz="1600" b="1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Tábla mérete: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 Egy 5 és 20 közötti</a:t>
            </a:r>
            <a:r>
              <a:rPr kumimoji="0" lang="hu-HU" altLang="hu-HU" sz="1600" b="0" i="0" u="none" strike="noStrike" cap="none" normalizeH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 szám 			megadása!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 </a:t>
            </a:r>
            <a:b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</a:br>
            <a:r>
              <a:rPr kumimoji="0" lang="hu-HU" altLang="hu-HU" sz="1600" b="0" i="1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Például: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 Egy 10-es szám beírásával egy 10x10-es négyzethálót alkothat.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A program ezután legenerálja a pályát, ahol a pontok (</a:t>
            </a:r>
            <a:r>
              <a:rPr kumimoji="0" lang="hu-HU" altLang="hu-HU" sz="10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.</a:t>
            </a:r>
            <a:r>
              <a:rPr kumimoji="0" lang="hu-HU" altLang="hu-HU" sz="1600" b="0" i="0" u="none" strike="noStrike" cap="none" normalizeH="0" baseline="0" dirty="0" smtClean="0">
                <a:ln>
                  <a:noFill/>
                </a:ln>
                <a:solidFill>
                  <a:srgbClr val="F8FAFC"/>
                </a:solidFill>
                <a:effectLst/>
                <a:cs typeface="Arial" panose="020B0604020202020204" pitchFamily="34" charset="0"/>
              </a:rPr>
              <a:t>) jelölik a szabad mezőket.</a:t>
            </a: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  <p:pic>
        <p:nvPicPr>
          <p:cNvPr id="26" name="Kép 25"/>
          <p:cNvPicPr>
            <a:picLocks noChangeAspect="1"/>
          </p:cNvPicPr>
          <p:nvPr/>
        </p:nvPicPr>
        <p:blipFill rotWithShape="1">
          <a:blip r:embed="rId3"/>
          <a:srcRect r="50080"/>
          <a:stretch/>
        </p:blipFill>
        <p:spPr>
          <a:xfrm>
            <a:off x="542577" y="4021732"/>
            <a:ext cx="5177475" cy="2794703"/>
          </a:xfrm>
          <a:prstGeom prst="rect">
            <a:avLst/>
          </a:prstGeom>
        </p:spPr>
      </p:pic>
      <p:pic>
        <p:nvPicPr>
          <p:cNvPr id="33" name="Kép 32"/>
          <p:cNvPicPr>
            <a:picLocks noChangeAspect="1"/>
          </p:cNvPicPr>
          <p:nvPr/>
        </p:nvPicPr>
        <p:blipFill rotWithShape="1">
          <a:blip r:embed="rId3"/>
          <a:srcRect l="23355" t="16913" r="64302" b="56614"/>
          <a:stretch/>
        </p:blipFill>
        <p:spPr>
          <a:xfrm>
            <a:off x="684790" y="4115495"/>
            <a:ext cx="4535603" cy="2621220"/>
          </a:xfrm>
          <a:prstGeom prst="rect">
            <a:avLst/>
          </a:prstGeom>
        </p:spPr>
      </p:pic>
      <p:sp>
        <p:nvSpPr>
          <p:cNvPr id="32" name="Rectangle 1"/>
          <p:cNvSpPr>
            <a:spLocks noChangeArrowheads="1"/>
          </p:cNvSpPr>
          <p:nvPr/>
        </p:nvSpPr>
        <p:spPr bwMode="auto">
          <a:xfrm>
            <a:off x="684790" y="3991575"/>
            <a:ext cx="4917988" cy="2949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2539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hu-HU" altLang="hu-HU" sz="2400" b="1" dirty="0" smtClean="0">
                <a:solidFill>
                  <a:srgbClr val="94A3B8"/>
                </a:solidFill>
                <a:cs typeface="Arial" panose="020B0604020202020204" pitchFamily="34" charset="0"/>
              </a:rPr>
              <a:t>Jel elhelyezése</a:t>
            </a:r>
            <a:endParaRPr lang="hu-HU" altLang="hu-HU" sz="2400" b="1" dirty="0">
              <a:solidFill>
                <a:srgbClr val="94A3B8"/>
              </a:solidFill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A </a:t>
            </a:r>
            <a:r>
              <a:rPr lang="hu-HU" sz="1600" b="1" dirty="0">
                <a:solidFill>
                  <a:srgbClr val="F8FAFC"/>
                </a:solidFill>
                <a:cs typeface="Arial" panose="020B0604020202020204" pitchFamily="34" charset="0"/>
              </a:rPr>
              <a:t>J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átékosok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 </a:t>
            </a: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(X és O) 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jeleket tudják kiválasztani. </a:t>
            </a: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A képernyőn mindig 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látható </a:t>
            </a: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az aktuális állást.</a:t>
            </a:r>
          </a:p>
          <a:p>
            <a:pPr>
              <a:spcAft>
                <a:spcPts val="0"/>
              </a:spcAft>
            </a:pP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A lépés menete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: 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- 1. "</a:t>
            </a:r>
            <a:r>
              <a:rPr lang="hu-HU" sz="1600" b="1" dirty="0">
                <a:solidFill>
                  <a:srgbClr val="F8FAFC"/>
                </a:solidFill>
                <a:cs typeface="Arial" panose="020B0604020202020204" pitchFamily="34" charset="0"/>
              </a:rPr>
              <a:t>X lépés" vagy "O lépés" 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					  menüpont kiválasztása</a:t>
            </a:r>
            <a:endParaRPr lang="hu-HU" sz="1600" b="1" dirty="0">
              <a:solidFill>
                <a:srgbClr val="F8FAFC"/>
              </a:solidFill>
              <a:cs typeface="Arial" panose="020B0604020202020204" pitchFamily="34" charset="0"/>
            </a:endParaRPr>
          </a:p>
          <a:p>
            <a:pPr lvl="3">
              <a:spcAft>
                <a:spcPts val="600"/>
              </a:spcAft>
            </a:pP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  - 2. Sor és </a:t>
            </a:r>
            <a:r>
              <a:rPr lang="hu-HU" sz="1600" b="1" dirty="0">
                <a:solidFill>
                  <a:srgbClr val="F8FAFC"/>
                </a:solidFill>
                <a:cs typeface="Arial" panose="020B0604020202020204" pitchFamily="34" charset="0"/>
              </a:rPr>
              <a:t>az 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Oszlop      	</a:t>
            </a:r>
            <a:r>
              <a:rPr lang="hu-HU" sz="1600" b="1" dirty="0" err="1" smtClean="0">
                <a:solidFill>
                  <a:srgbClr val="F8FAFC"/>
                </a:solidFill>
                <a:cs typeface="Arial" panose="020B0604020202020204" pitchFamily="34" charset="0"/>
              </a:rPr>
              <a:t>meggadása</a:t>
            </a:r>
            <a:r>
              <a:rPr lang="hu-HU" sz="1600" b="1" dirty="0">
                <a:solidFill>
                  <a:srgbClr val="F8FAFC"/>
                </a:solidFill>
                <a:cs typeface="Arial" panose="020B0604020202020204" pitchFamily="34" charset="0"/>
              </a:rPr>
              <a:t> egy 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szóközzel 	elválasztva </a:t>
            </a: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(pl. 2 3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)</a:t>
            </a:r>
            <a:endParaRPr lang="hu-HU" sz="1600" dirty="0">
              <a:solidFill>
                <a:srgbClr val="F8FAFC"/>
              </a:solidFill>
              <a:cs typeface="Arial" panose="020B0604020202020204" pitchFamily="34" charset="0"/>
            </a:endParaRPr>
          </a:p>
          <a:p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Majd a </a:t>
            </a:r>
            <a:r>
              <a:rPr lang="hu-HU" sz="1600" b="1" dirty="0" smtClean="0">
                <a:solidFill>
                  <a:srgbClr val="F8FAFC"/>
                </a:solidFill>
                <a:cs typeface="Arial" panose="020B0604020202020204" pitchFamily="34" charset="0"/>
              </a:rPr>
              <a:t>Jel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 </a:t>
            </a:r>
            <a:r>
              <a:rPr lang="hu-HU" sz="1600" dirty="0">
                <a:solidFill>
                  <a:srgbClr val="F8FAFC"/>
                </a:solidFill>
                <a:cs typeface="Arial" panose="020B0604020202020204" pitchFamily="34" charset="0"/>
              </a:rPr>
              <a:t>azonnal megjelenik a </a:t>
            </a:r>
            <a:r>
              <a:rPr lang="hu-HU" sz="1600" dirty="0" smtClean="0">
                <a:solidFill>
                  <a:srgbClr val="F8FAFC"/>
                </a:solidFill>
                <a:cs typeface="Arial" panose="020B0604020202020204" pitchFamily="34" charset="0"/>
              </a:rPr>
              <a:t>táblán</a:t>
            </a:r>
            <a:endParaRPr lang="hu-HU" sz="1600" dirty="0">
              <a:solidFill>
                <a:srgbClr val="F8FAFC"/>
              </a:solidFill>
              <a:cs typeface="Arial" panose="020B0604020202020204" pitchFamily="34" charset="0"/>
            </a:endParaRPr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111" y="156064"/>
            <a:ext cx="4858827" cy="1866731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 rotWithShape="1">
          <a:blip r:embed="rId5"/>
          <a:srcRect t="6177"/>
          <a:stretch/>
        </p:blipFill>
        <p:spPr>
          <a:xfrm>
            <a:off x="6627111" y="2086493"/>
            <a:ext cx="4898091" cy="45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532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Kép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127" y="42869"/>
            <a:ext cx="4505613" cy="6815131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 rotWithShape="1">
          <a:blip r:embed="rId2"/>
          <a:srcRect l="7578" t="27992" r="74022" b="24869"/>
          <a:stretch/>
        </p:blipFill>
        <p:spPr>
          <a:xfrm>
            <a:off x="6761127" y="7752"/>
            <a:ext cx="1741418" cy="3040183"/>
          </a:xfrm>
          <a:prstGeom prst="rect">
            <a:avLst/>
          </a:prstGeom>
        </p:spPr>
      </p:pic>
      <p:sp>
        <p:nvSpPr>
          <p:cNvPr id="23" name="Téglalap 22"/>
          <p:cNvSpPr/>
          <p:nvPr/>
        </p:nvSpPr>
        <p:spPr>
          <a:xfrm>
            <a:off x="1192743" y="1095909"/>
            <a:ext cx="4915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4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2400" b="1" u="sng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Cél</a:t>
            </a:r>
            <a:r>
              <a:rPr lang="hu-HU" altLang="hu-HU" sz="24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altLang="hu-HU" sz="2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5 azonos jel elhelyezése vízszintesen, függőlegesen vagy </a:t>
            </a:r>
            <a:r>
              <a:rPr lang="hu-HU" altLang="hu-HU" sz="24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átlósan</a:t>
            </a:r>
            <a:endParaRPr lang="hu-HU" altLang="hu-HU" sz="2400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églalap 23"/>
          <p:cNvSpPr/>
          <p:nvPr/>
        </p:nvSpPr>
        <p:spPr>
          <a:xfrm>
            <a:off x="1192743" y="2188817"/>
            <a:ext cx="536191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24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2400" b="1" u="sng" dirty="0" err="1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Validáció</a:t>
            </a:r>
            <a:r>
              <a:rPr lang="hu-HU" altLang="hu-HU" sz="24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altLang="hu-HU" sz="2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Csak üres helyre </a:t>
            </a:r>
            <a:endParaRPr lang="hu-HU" altLang="hu-HU" sz="2400" dirty="0" smtClean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4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lehet </a:t>
            </a:r>
            <a:r>
              <a:rPr lang="hu-HU" altLang="hu-HU" sz="24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jelet tenni a tábla </a:t>
            </a:r>
            <a:r>
              <a:rPr lang="hu-HU" altLang="hu-HU" sz="24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határain belül</a:t>
            </a:r>
            <a:endParaRPr lang="hu-HU" altLang="hu-HU" sz="24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1935" y="2192434"/>
            <a:ext cx="534908" cy="527760"/>
          </a:xfrm>
          <a:prstGeom prst="rect">
            <a:avLst/>
          </a:prstGeom>
        </p:spPr>
      </p:pic>
      <p:sp>
        <p:nvSpPr>
          <p:cNvPr id="14" name="Cím 1"/>
          <p:cNvSpPr txBox="1">
            <a:spLocks/>
          </p:cNvSpPr>
          <p:nvPr/>
        </p:nvSpPr>
        <p:spPr>
          <a:xfrm>
            <a:off x="540327" y="1886989"/>
            <a:ext cx="11452689" cy="7173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u-HU" b="1" dirty="0" smtClean="0"/>
              <a:t>Játékmenet 2. </a:t>
            </a:r>
            <a:br>
              <a:rPr lang="hu-HU" b="1" dirty="0" smtClean="0"/>
            </a:br>
            <a:r>
              <a:rPr lang="hu-HU" b="1" cap="all" dirty="0" smtClean="0"/>
              <a:t/>
            </a:r>
            <a:br>
              <a:rPr lang="hu-HU" b="1" cap="all" dirty="0" smtClean="0"/>
            </a:br>
            <a:endParaRPr lang="hu-HU" sz="5000" dirty="0"/>
          </a:p>
        </p:txBody>
      </p:sp>
      <p:cxnSp>
        <p:nvCxnSpPr>
          <p:cNvPr id="15" name="Egyenes összekötő 14"/>
          <p:cNvCxnSpPr/>
          <p:nvPr/>
        </p:nvCxnSpPr>
        <p:spPr>
          <a:xfrm>
            <a:off x="443299" y="193492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Kép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92" y="1292638"/>
            <a:ext cx="567661" cy="567661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299" y="2296238"/>
            <a:ext cx="645154" cy="651240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 rotWithShape="1">
          <a:blip r:embed="rId6"/>
          <a:srcRect t="6414"/>
          <a:stretch/>
        </p:blipFill>
        <p:spPr>
          <a:xfrm>
            <a:off x="6907874" y="112902"/>
            <a:ext cx="4177672" cy="3978128"/>
          </a:xfrm>
          <a:prstGeom prst="rect">
            <a:avLst/>
          </a:prstGeom>
        </p:spPr>
      </p:pic>
      <p:pic>
        <p:nvPicPr>
          <p:cNvPr id="21" name="Kép 20"/>
          <p:cNvPicPr>
            <a:picLocks noChangeAspect="1"/>
          </p:cNvPicPr>
          <p:nvPr/>
        </p:nvPicPr>
        <p:blipFill rotWithShape="1">
          <a:blip r:embed="rId7"/>
          <a:srcRect r="50080"/>
          <a:stretch/>
        </p:blipFill>
        <p:spPr>
          <a:xfrm>
            <a:off x="540327" y="3040256"/>
            <a:ext cx="5853654" cy="3667020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 rotWithShape="1">
          <a:blip r:embed="rId8"/>
          <a:srcRect t="56112"/>
          <a:stretch/>
        </p:blipFill>
        <p:spPr>
          <a:xfrm>
            <a:off x="6925097" y="4205092"/>
            <a:ext cx="4177672" cy="2502183"/>
          </a:xfrm>
          <a:prstGeom prst="rect">
            <a:avLst/>
          </a:prstGeom>
        </p:spPr>
      </p:pic>
      <p:pic>
        <p:nvPicPr>
          <p:cNvPr id="25" name="Kép 24"/>
          <p:cNvPicPr>
            <a:picLocks noChangeAspect="1"/>
          </p:cNvPicPr>
          <p:nvPr/>
        </p:nvPicPr>
        <p:blipFill rotWithShape="1">
          <a:blip r:embed="rId7"/>
          <a:srcRect l="23197" t="10689" r="60563" b="60850"/>
          <a:stretch/>
        </p:blipFill>
        <p:spPr>
          <a:xfrm>
            <a:off x="707686" y="3395395"/>
            <a:ext cx="5363339" cy="2722772"/>
          </a:xfrm>
          <a:prstGeom prst="rect">
            <a:avLst/>
          </a:prstGeom>
        </p:spPr>
      </p:pic>
      <p:sp>
        <p:nvSpPr>
          <p:cNvPr id="16" name="Rectangle 1"/>
          <p:cNvSpPr>
            <a:spLocks noChangeArrowheads="1"/>
          </p:cNvSpPr>
          <p:nvPr/>
        </p:nvSpPr>
        <p:spPr bwMode="auto">
          <a:xfrm>
            <a:off x="735423" y="3067710"/>
            <a:ext cx="5463461" cy="3821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ts val="400"/>
              </a:spcAft>
            </a:pPr>
            <a:r>
              <a:rPr lang="hu-HU" altLang="hu-HU" sz="2400" b="1" dirty="0" smtClean="0">
                <a:solidFill>
                  <a:srgbClr val="94A3B8"/>
                </a:solidFill>
                <a:cs typeface="Arial" panose="020B0604020202020204" pitchFamily="34" charset="0"/>
              </a:rPr>
              <a:t>Statisztika</a:t>
            </a:r>
            <a:endParaRPr lang="hu-HU" altLang="hu-HU" sz="1600" b="1" dirty="0" smtClean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szoftver két szinten kezeli az adatokat: </a:t>
            </a:r>
            <a:endParaRPr lang="hu-HU" altLang="hu-HU" sz="1600" dirty="0" smtClean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Globális (összesített)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szint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Char char="-"/>
              <a:tabLst/>
            </a:pP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okális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(aktuális meccs) 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szint</a:t>
            </a:r>
            <a:endParaRPr lang="hu-HU" altLang="hu-HU" sz="1600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</a:pP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Megjelenített adatok a felhasználó számára: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1600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Globális </a:t>
            </a:r>
            <a:r>
              <a:rPr lang="hu-HU" altLang="hu-HU" sz="1600" b="1" u="sng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győzelmi mutatók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szoftver tárolja az 'X' és 'O' játékosok összesített nyerteseinek számát 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(az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adatok több indítás között is 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megmaradnak)</a:t>
            </a:r>
            <a:endParaRPr lang="hu-HU" altLang="hu-HU" sz="1600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1600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Tábla méret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aktuálisan beállított tábla pontos méretének kijelzése (pl. 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10x10).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1600" b="1" u="sng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Aktuális </a:t>
            </a:r>
            <a:r>
              <a:rPr lang="hu-HU" altLang="hu-HU" sz="1600" b="1" u="sng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lépésszám</a:t>
            </a:r>
            <a:r>
              <a:rPr lang="hu-HU" altLang="hu-HU" sz="1600" dirty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Valós idejű számláló, amely megmutatja, hány érvényes lépés történt az adott mérkőzés megkezdése </a:t>
            </a:r>
            <a:r>
              <a:rPr lang="hu-HU" altLang="hu-HU" sz="1600" dirty="0" smtClean="0">
                <a:solidFill>
                  <a:srgbClr val="F8FA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óta</a:t>
            </a:r>
            <a:endParaRPr lang="hu-HU" altLang="hu-HU" sz="1600" dirty="0">
              <a:solidFill>
                <a:srgbClr val="F8FAF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u-HU" altLang="hu-H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66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25952" y="439050"/>
            <a:ext cx="11450440" cy="2262781"/>
          </a:xfrm>
        </p:spPr>
        <p:txBody>
          <a:bodyPr>
            <a:noAutofit/>
          </a:bodyPr>
          <a:lstStyle/>
          <a:p>
            <a:r>
              <a:rPr lang="hu-HU" sz="5000" b="1" dirty="0"/>
              <a:t>Mentés és Betöltés (</a:t>
            </a:r>
            <a:r>
              <a:rPr lang="hu-HU" sz="5000" b="1" dirty="0" err="1"/>
              <a:t>Slots</a:t>
            </a:r>
            <a:r>
              <a:rPr lang="hu-HU" sz="5000" b="1" dirty="0"/>
              <a:t>)</a:t>
            </a:r>
            <a:br>
              <a:rPr lang="hu-HU" sz="5000" b="1" dirty="0"/>
            </a:br>
            <a:r>
              <a:rPr lang="hu-HU" sz="5000" dirty="0"/>
              <a:t/>
            </a:r>
            <a:br>
              <a:rPr lang="hu-HU" sz="5000" dirty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Kép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20" y="1450301"/>
            <a:ext cx="10618420" cy="2821308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531" y="4492644"/>
            <a:ext cx="5419898" cy="2132602"/>
          </a:xfrm>
          <a:prstGeom prst="rect">
            <a:avLst/>
          </a:prstGeom>
        </p:spPr>
      </p:pic>
      <p:pic>
        <p:nvPicPr>
          <p:cNvPr id="14" name="Kép 13"/>
          <p:cNvPicPr>
            <a:picLocks noChangeAspect="1"/>
          </p:cNvPicPr>
          <p:nvPr/>
        </p:nvPicPr>
        <p:blipFill rotWithShape="1">
          <a:blip r:embed="rId3"/>
          <a:srcRect l="7578" t="27992" r="74022" b="24869"/>
          <a:stretch/>
        </p:blipFill>
        <p:spPr>
          <a:xfrm>
            <a:off x="3433155" y="4520323"/>
            <a:ext cx="2152996" cy="964277"/>
          </a:xfrm>
          <a:prstGeom prst="rect">
            <a:avLst/>
          </a:prstGeom>
        </p:spPr>
      </p:pic>
      <p:pic>
        <p:nvPicPr>
          <p:cNvPr id="18" name="Kép 17"/>
          <p:cNvPicPr>
            <a:picLocks noChangeAspect="1"/>
          </p:cNvPicPr>
          <p:nvPr/>
        </p:nvPicPr>
        <p:blipFill rotWithShape="1">
          <a:blip r:embed="rId2"/>
          <a:srcRect l="23659" t="12783" r="52821" b="48575"/>
          <a:stretch/>
        </p:blipFill>
        <p:spPr>
          <a:xfrm>
            <a:off x="1079566" y="2238587"/>
            <a:ext cx="4484956" cy="1988012"/>
          </a:xfrm>
          <a:prstGeom prst="rect">
            <a:avLst/>
          </a:prstGeom>
        </p:spPr>
      </p:pic>
      <p:sp>
        <p:nvSpPr>
          <p:cNvPr id="19" name="Téglalap 18"/>
          <p:cNvSpPr/>
          <p:nvPr/>
        </p:nvSpPr>
        <p:spPr>
          <a:xfrm>
            <a:off x="1022740" y="2228232"/>
            <a:ext cx="4476405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hu-HU" sz="2400" b="1" dirty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Mentési </a:t>
            </a:r>
            <a:r>
              <a:rPr lang="hu-HU" sz="2400" b="1" dirty="0" err="1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Slotok</a:t>
            </a:r>
            <a:endParaRPr lang="hu-HU" sz="2400" b="1" dirty="0">
              <a:solidFill>
                <a:srgbClr val="F1F5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játék során bármikor menthetünk. A program kéri a mentés nevét, így tetszőleges számú különböző állást tárolhatunk.</a:t>
            </a:r>
            <a:endParaRPr lang="hu-HU" sz="2000" b="0" i="0" dirty="0">
              <a:solidFill>
                <a:srgbClr val="CBD5E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Kép 20"/>
          <p:cNvPicPr>
            <a:picLocks noChangeAspect="1"/>
          </p:cNvPicPr>
          <p:nvPr/>
        </p:nvPicPr>
        <p:blipFill rotWithShape="1">
          <a:blip r:embed="rId2"/>
          <a:srcRect l="23659" t="12783" r="52821" b="48575"/>
          <a:stretch/>
        </p:blipFill>
        <p:spPr>
          <a:xfrm>
            <a:off x="6398552" y="2222210"/>
            <a:ext cx="4549313" cy="2016539"/>
          </a:xfrm>
          <a:prstGeom prst="rect">
            <a:avLst/>
          </a:prstGeom>
        </p:spPr>
      </p:pic>
      <p:sp>
        <p:nvSpPr>
          <p:cNvPr id="15" name="Téglalap 14"/>
          <p:cNvSpPr/>
          <p:nvPr/>
        </p:nvSpPr>
        <p:spPr>
          <a:xfrm>
            <a:off x="6398552" y="2321301"/>
            <a:ext cx="5138426" cy="153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hu-HU" altLang="hu-HU" sz="2400" b="1" dirty="0" smtClean="0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Dinamikus Betöltés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hu-HU" altLang="hu-HU" sz="20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 Betöltése </a:t>
            </a: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menüpont </a:t>
            </a:r>
            <a:r>
              <a:rPr lang="hu-HU" altLang="hu-HU" sz="2000" dirty="0" err="1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kilistázza</a:t>
            </a: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az 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összes könyvtárban található </a:t>
            </a:r>
            <a:r>
              <a:rPr lang="hu-HU" altLang="hu-HU" sz="2000" dirty="0" smtClean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hu-HU" altLang="hu-HU" sz="2000" dirty="0" err="1" smtClean="0">
                <a:solidFill>
                  <a:srgbClr val="38BDF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txt</a:t>
            </a: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mentést, amiből név alapján választhatunk.</a:t>
            </a:r>
            <a:endParaRPr lang="hu-HU" altLang="hu-H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Kép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142" y="3175046"/>
            <a:ext cx="732146" cy="397785"/>
          </a:xfrm>
          <a:prstGeom prst="rect">
            <a:avLst/>
          </a:prstGeom>
        </p:spPr>
      </p:pic>
      <p:pic>
        <p:nvPicPr>
          <p:cNvPr id="17" name="Kép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7316" y="4626060"/>
            <a:ext cx="5195569" cy="186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50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Kép 21"/>
          <p:cNvPicPr>
            <a:picLocks noChangeAspect="1"/>
          </p:cNvPicPr>
          <p:nvPr/>
        </p:nvPicPr>
        <p:blipFill rotWithShape="1">
          <a:blip r:embed="rId2"/>
          <a:srcRect l="3927" t="8781" r="4863" b="8486"/>
          <a:stretch/>
        </p:blipFill>
        <p:spPr>
          <a:xfrm>
            <a:off x="6141036" y="1570440"/>
            <a:ext cx="5602964" cy="4123778"/>
          </a:xfrm>
          <a:prstGeom prst="rect">
            <a:avLst/>
          </a:prstGeom>
        </p:spPr>
      </p:pic>
      <p:pic>
        <p:nvPicPr>
          <p:cNvPr id="20" name="Kép 19"/>
          <p:cNvPicPr>
            <a:picLocks noChangeAspect="1"/>
          </p:cNvPicPr>
          <p:nvPr/>
        </p:nvPicPr>
        <p:blipFill rotWithShape="1">
          <a:blip r:embed="rId2"/>
          <a:srcRect l="3927" t="8781" r="4863" b="8486"/>
          <a:stretch/>
        </p:blipFill>
        <p:spPr>
          <a:xfrm>
            <a:off x="432076" y="1570440"/>
            <a:ext cx="5602964" cy="4123778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25952" y="439050"/>
            <a:ext cx="11450440" cy="2262781"/>
          </a:xfrm>
        </p:spPr>
        <p:txBody>
          <a:bodyPr>
            <a:noAutofit/>
          </a:bodyPr>
          <a:lstStyle/>
          <a:p>
            <a:r>
              <a:rPr lang="hu-HU" sz="5000" b="1" dirty="0" smtClean="0"/>
              <a:t>Betöltés </a:t>
            </a:r>
            <a:r>
              <a:rPr lang="hu-HU" sz="5000" b="1" dirty="0"/>
              <a:t>(</a:t>
            </a:r>
            <a:r>
              <a:rPr lang="hu-HU" sz="5000" b="1" dirty="0" err="1"/>
              <a:t>Slots</a:t>
            </a:r>
            <a:r>
              <a:rPr lang="hu-HU" sz="5000" b="1" dirty="0" smtClean="0"/>
              <a:t>) Lehetőségek</a:t>
            </a:r>
            <a:r>
              <a:rPr lang="hu-HU" sz="5000" b="1" dirty="0"/>
              <a:t/>
            </a:r>
            <a:br>
              <a:rPr lang="hu-HU" sz="5000" b="1" dirty="0"/>
            </a:br>
            <a:r>
              <a:rPr lang="hu-HU" sz="5000" dirty="0"/>
              <a:t/>
            </a:r>
            <a:br>
              <a:rPr lang="hu-HU" sz="5000" dirty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382385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51" y="1880893"/>
            <a:ext cx="5236769" cy="3634934"/>
          </a:xfrm>
          <a:prstGeom prst="rect">
            <a:avLst/>
          </a:prstGeom>
        </p:spPr>
      </p:pic>
      <p:pic>
        <p:nvPicPr>
          <p:cNvPr id="11" name="Kép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7836" y="1880893"/>
            <a:ext cx="5259055" cy="3634934"/>
          </a:xfrm>
          <a:prstGeom prst="rect">
            <a:avLst/>
          </a:prstGeom>
        </p:spPr>
      </p:pic>
      <p:sp>
        <p:nvSpPr>
          <p:cNvPr id="4" name="Téglalap 3"/>
          <p:cNvSpPr/>
          <p:nvPr/>
        </p:nvSpPr>
        <p:spPr>
          <a:xfrm>
            <a:off x="852137" y="5826279"/>
            <a:ext cx="476284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altLang="hu-HU" sz="3200" b="1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Sikeres Game Betöltés!</a:t>
            </a:r>
            <a:endParaRPr lang="hu-HU" sz="32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églalap 22"/>
          <p:cNvSpPr/>
          <p:nvPr/>
        </p:nvSpPr>
        <p:spPr>
          <a:xfrm>
            <a:off x="6311028" y="5826279"/>
            <a:ext cx="52629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altLang="hu-HU" sz="3200" b="1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Sikertelen Game Betöltés!</a:t>
            </a:r>
            <a:endParaRPr lang="hu-HU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94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406778" y="2834167"/>
            <a:ext cx="11450440" cy="2262781"/>
          </a:xfrm>
        </p:spPr>
        <p:txBody>
          <a:bodyPr>
            <a:normAutofit fontScale="90000"/>
          </a:bodyPr>
          <a:lstStyle/>
          <a:p>
            <a:pPr algn="ctr"/>
            <a:r>
              <a:rPr lang="hu-HU" sz="7200" b="1" dirty="0" smtClean="0">
                <a:solidFill>
                  <a:srgbClr val="198DC1"/>
                </a:solidFill>
              </a:rPr>
              <a:t/>
            </a:r>
            <a:br>
              <a:rPr lang="hu-HU" sz="7200" b="1" dirty="0" smtClean="0">
                <a:solidFill>
                  <a:srgbClr val="198DC1"/>
                </a:solidFill>
              </a:rPr>
            </a:br>
            <a:r>
              <a:rPr lang="hu-HU" sz="7200" b="1" dirty="0" smtClean="0">
                <a:solidFill>
                  <a:srgbClr val="198DC1"/>
                </a:solidFill>
              </a:rPr>
              <a:t/>
            </a:r>
            <a:br>
              <a:rPr lang="hu-HU" sz="7200" b="1" dirty="0" smtClean="0">
                <a:solidFill>
                  <a:srgbClr val="198DC1"/>
                </a:solidFill>
              </a:rPr>
            </a:br>
            <a:r>
              <a:rPr lang="hu-HU" sz="7200" b="1" dirty="0" smtClean="0">
                <a:solidFill>
                  <a:srgbClr val="198DC1"/>
                </a:solidFill>
              </a:rPr>
              <a:t>Technikai Ismertető</a:t>
            </a:r>
            <a:r>
              <a:rPr lang="hu-HU" sz="7200" b="1" dirty="0">
                <a:solidFill>
                  <a:srgbClr val="198DC1"/>
                </a:solidFill>
              </a:rPr>
              <a:t/>
            </a:r>
            <a:br>
              <a:rPr lang="hu-HU" sz="7200" b="1" dirty="0">
                <a:solidFill>
                  <a:srgbClr val="198DC1"/>
                </a:solidFill>
              </a:rPr>
            </a:br>
            <a:endParaRPr lang="hu-HU" sz="7200" b="1" dirty="0">
              <a:solidFill>
                <a:srgbClr val="198DC1"/>
              </a:solidFill>
            </a:endParaRP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674298" y="4226236"/>
            <a:ext cx="8915399" cy="1126283"/>
          </a:xfrm>
        </p:spPr>
        <p:txBody>
          <a:bodyPr>
            <a:normAutofit fontScale="92500" lnSpcReduction="10000"/>
          </a:bodyPr>
          <a:lstStyle/>
          <a:p>
            <a:pPr algn="ctr"/>
            <a:r>
              <a:rPr lang="hu-HU" sz="3200" dirty="0" smtClean="0">
                <a:solidFill>
                  <a:schemeClr val="bg1"/>
                </a:solidFill>
              </a:rPr>
              <a:t>A </a:t>
            </a:r>
            <a:r>
              <a:rPr lang="hu-HU" sz="3200" dirty="0">
                <a:solidFill>
                  <a:schemeClr val="bg1"/>
                </a:solidFill>
              </a:rPr>
              <a:t>szoftver belső felépítése és logikája</a:t>
            </a:r>
            <a:endParaRPr lang="hu-HU" sz="3200" dirty="0" smtClean="0">
              <a:solidFill>
                <a:schemeClr val="bg1"/>
              </a:solidFill>
            </a:endParaRPr>
          </a:p>
          <a:p>
            <a:r>
              <a:rPr lang="hu-HU" dirty="0"/>
              <a:t/>
            </a:r>
            <a:br>
              <a:rPr lang="hu-HU" dirty="0"/>
            </a:br>
            <a:endParaRPr lang="hu-HU" dirty="0"/>
          </a:p>
        </p:txBody>
      </p:sp>
      <p:cxnSp>
        <p:nvCxnSpPr>
          <p:cNvPr id="8" name="Egyenes összekötő 7"/>
          <p:cNvCxnSpPr/>
          <p:nvPr/>
        </p:nvCxnSpPr>
        <p:spPr>
          <a:xfrm flipH="1">
            <a:off x="5368809" y="2767666"/>
            <a:ext cx="1526375" cy="2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209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Kép 31"/>
          <p:cNvPicPr>
            <a:picLocks noChangeAspect="1"/>
          </p:cNvPicPr>
          <p:nvPr/>
        </p:nvPicPr>
        <p:blipFill rotWithShape="1">
          <a:blip r:embed="rId2"/>
          <a:srcRect t="3858" r="50728"/>
          <a:stretch/>
        </p:blipFill>
        <p:spPr>
          <a:xfrm>
            <a:off x="500983" y="1189023"/>
            <a:ext cx="5602205" cy="3025528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09326" y="1079632"/>
            <a:ext cx="11450440" cy="2262781"/>
          </a:xfrm>
        </p:spPr>
        <p:txBody>
          <a:bodyPr>
            <a:noAutofit/>
          </a:bodyPr>
          <a:lstStyle/>
          <a:p>
            <a:r>
              <a:rPr lang="hu-HU" sz="5000" b="1" dirty="0" smtClean="0"/>
              <a:t>OOP És </a:t>
            </a:r>
            <a:r>
              <a:rPr lang="hu-HU" sz="5000" b="1" dirty="0" err="1" smtClean="0"/>
              <a:t>Class</a:t>
            </a:r>
            <a:r>
              <a:rPr lang="hu-HU" sz="5000" b="1" dirty="0" smtClean="0"/>
              <a:t> </a:t>
            </a:r>
            <a:r>
              <a:rPr lang="hu-HU" sz="5000" b="1" dirty="0" err="1" smtClean="0"/>
              <a:t>Structure</a:t>
            </a:r>
            <a:r>
              <a:rPr lang="hu-HU" b="1" cap="all" dirty="0"/>
              <a:t/>
            </a:r>
            <a:br>
              <a:rPr lang="hu-HU" b="1" cap="all" dirty="0"/>
            </a:br>
            <a:r>
              <a:rPr lang="hu-HU" sz="5000" b="1" dirty="0"/>
              <a:t/>
            </a:r>
            <a:br>
              <a:rPr lang="hu-HU" sz="5000" b="1" dirty="0"/>
            </a:br>
            <a:r>
              <a:rPr lang="hu-HU" sz="5000" dirty="0" smtClean="0"/>
              <a:t/>
            </a:r>
            <a:br>
              <a:rPr lang="hu-HU" sz="5000" dirty="0" smtClean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274316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/>
          <a:srcRect l="12487" t="5490" r="55974" b="65947"/>
          <a:stretch/>
        </p:blipFill>
        <p:spPr>
          <a:xfrm>
            <a:off x="713199" y="1903612"/>
            <a:ext cx="4813561" cy="1443359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 rotWithShape="1">
          <a:blip r:embed="rId2"/>
          <a:srcRect l="12487" t="5490" r="55974" b="65947"/>
          <a:stretch/>
        </p:blipFill>
        <p:spPr>
          <a:xfrm>
            <a:off x="863596" y="1236470"/>
            <a:ext cx="4665220" cy="2615410"/>
          </a:xfrm>
          <a:prstGeom prst="rect">
            <a:avLst/>
          </a:prstGeom>
        </p:spPr>
      </p:pic>
      <p:sp>
        <p:nvSpPr>
          <p:cNvPr id="12" name="Téglalap 11"/>
          <p:cNvSpPr/>
          <p:nvPr/>
        </p:nvSpPr>
        <p:spPr>
          <a:xfrm>
            <a:off x="944197" y="2052935"/>
            <a:ext cx="51589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</a:t>
            </a:r>
            <a:r>
              <a:rPr lang="hu-HU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játéktér reprezentációja és a vizuális megjelenítésért felelős </a:t>
            </a:r>
            <a:r>
              <a:rPr lang="hu-HU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metódusok</a:t>
            </a:r>
            <a:endParaRPr lang="hu-HU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GameEngine</a:t>
            </a:r>
            <a:r>
              <a:rPr lang="hu-HU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hu-HU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A szabályrendszer kezelése, győzelem-ellenőrzés és </a:t>
            </a:r>
            <a:r>
              <a:rPr lang="hu-HU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adatok mentése</a:t>
            </a:r>
            <a:endParaRPr lang="hu-HU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Program: </a:t>
            </a:r>
            <a:r>
              <a:rPr lang="hu-HU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központi vezérlő, amely a felhasználói bemeneteket továbbítja </a:t>
            </a:r>
            <a:r>
              <a:rPr lang="hu-HU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az </a:t>
            </a:r>
            <a:r>
              <a:rPr lang="hu-HU" b="1" dirty="0" err="1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</a:t>
            </a:r>
            <a:r>
              <a:rPr lang="hu-HU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felé</a:t>
            </a:r>
            <a:endParaRPr lang="hu-HU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églalap 5"/>
          <p:cNvSpPr/>
          <p:nvPr/>
        </p:nvSpPr>
        <p:spPr>
          <a:xfrm>
            <a:off x="870892" y="1303486"/>
            <a:ext cx="4806265" cy="8335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hu-HU" sz="2400" b="1" dirty="0" err="1">
                <a:solidFill>
                  <a:srgbClr val="F1F5F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Classes</a:t>
            </a:r>
            <a:endParaRPr lang="hu-HU" sz="2400" b="1" dirty="0">
              <a:solidFill>
                <a:srgbClr val="F1F5F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szoftver </a:t>
            </a:r>
            <a:r>
              <a:rPr 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alappilére: </a:t>
            </a: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 rotWithShape="1">
          <a:blip r:embed="rId3"/>
          <a:srcRect r="50789"/>
          <a:stretch/>
        </p:blipFill>
        <p:spPr>
          <a:xfrm>
            <a:off x="6405383" y="1255527"/>
            <a:ext cx="5592486" cy="1436268"/>
          </a:xfrm>
          <a:prstGeom prst="rect">
            <a:avLst/>
          </a:prstGeom>
        </p:spPr>
      </p:pic>
      <p:pic>
        <p:nvPicPr>
          <p:cNvPr id="17" name="Kép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749" y="2635361"/>
            <a:ext cx="7653251" cy="4304954"/>
          </a:xfrm>
          <a:prstGeom prst="rect">
            <a:avLst/>
          </a:prstGeom>
        </p:spPr>
      </p:pic>
      <p:sp>
        <p:nvSpPr>
          <p:cNvPr id="4" name="Téglalap 3"/>
          <p:cNvSpPr/>
          <p:nvPr/>
        </p:nvSpPr>
        <p:spPr>
          <a:xfrm>
            <a:off x="6293327" y="993917"/>
            <a:ext cx="5740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u-HU" sz="2800" b="1" cap="all" dirty="0">
                <a:solidFill>
                  <a:srgbClr val="38BDF8"/>
                </a:solidFill>
                <a:latin typeface="Poppins"/>
              </a:rPr>
              <a:t>Kétlépcsős Vezérlőmotor</a:t>
            </a:r>
            <a:endParaRPr lang="hu-HU" sz="2800" b="1" i="0" cap="all" dirty="0">
              <a:solidFill>
                <a:srgbClr val="38BDF8"/>
              </a:solidFill>
              <a:effectLst/>
              <a:latin typeface="Poppins"/>
            </a:endParaRPr>
          </a:p>
        </p:txBody>
      </p:sp>
      <p:pic>
        <p:nvPicPr>
          <p:cNvPr id="33" name="Kép 32"/>
          <p:cNvPicPr>
            <a:picLocks noChangeAspect="1"/>
          </p:cNvPicPr>
          <p:nvPr/>
        </p:nvPicPr>
        <p:blipFill rotWithShape="1">
          <a:blip r:embed="rId3"/>
          <a:srcRect l="275" t="-22277" r="97504"/>
          <a:stretch/>
        </p:blipFill>
        <p:spPr>
          <a:xfrm>
            <a:off x="6758144" y="1405668"/>
            <a:ext cx="4810976" cy="272816"/>
          </a:xfrm>
          <a:prstGeom prst="rect">
            <a:avLst/>
          </a:prstGeom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6635441" y="1486940"/>
            <a:ext cx="5132370" cy="1015663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A szoftver egy </a:t>
            </a:r>
            <a:r>
              <a:rPr kumimoji="0" lang="hu-HU" altLang="hu-HU" sz="2000" b="0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bool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hu-HU" altLang="hu-HU" sz="2000" b="1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isGameRunning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 jelző segítségével dinamikusan vált a </a:t>
            </a:r>
            <a:r>
              <a:rPr kumimoji="0" lang="hu-HU" altLang="hu-HU" sz="2000" b="1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StartMenu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 és a </a:t>
            </a:r>
            <a:r>
              <a:rPr kumimoji="0" lang="hu-HU" altLang="hu-HU" sz="2000" b="1" i="0" u="none" strike="noStrike" cap="none" normalizeH="0" baseline="0" dirty="0" err="1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GameMenu</a:t>
            </a:r>
            <a:r>
              <a:rPr kumimoji="0" lang="hu-HU" altLang="hu-HU" sz="2000" b="0" i="0" u="none" strike="noStrike" cap="none" normalizeH="0" baseline="0" dirty="0" smtClean="0">
                <a:ln>
                  <a:noFill/>
                </a:ln>
                <a:solidFill>
                  <a:srgbClr val="CBD5E1"/>
                </a:solidFill>
                <a:effectLst/>
                <a:cs typeface="Arial" panose="020B0604020202020204" pitchFamily="34" charset="0"/>
              </a:rPr>
              <a:t> között. </a:t>
            </a:r>
            <a:endParaRPr kumimoji="0" lang="hu-HU" altLang="hu-H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7436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850" y="1264830"/>
            <a:ext cx="5770916" cy="477932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32" name="Kép 31"/>
          <p:cNvPicPr>
            <a:picLocks noChangeAspect="1"/>
          </p:cNvPicPr>
          <p:nvPr/>
        </p:nvPicPr>
        <p:blipFill rotWithShape="1">
          <a:blip r:embed="rId3"/>
          <a:srcRect t="3858" r="50728"/>
          <a:stretch/>
        </p:blipFill>
        <p:spPr>
          <a:xfrm>
            <a:off x="559173" y="1139144"/>
            <a:ext cx="6199076" cy="997226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509326" y="1079632"/>
            <a:ext cx="11450440" cy="2262781"/>
          </a:xfrm>
        </p:spPr>
        <p:txBody>
          <a:bodyPr>
            <a:noAutofit/>
          </a:bodyPr>
          <a:lstStyle/>
          <a:p>
            <a:r>
              <a:rPr lang="hu-HU" dirty="0"/>
              <a:t>Győzelem-ellenőrző </a:t>
            </a:r>
            <a:r>
              <a:rPr lang="hu-HU" dirty="0" smtClean="0"/>
              <a:t>Algoritmus</a:t>
            </a:r>
            <a:r>
              <a:rPr lang="hu-HU" b="1" cap="all" dirty="0"/>
              <a:t/>
            </a:r>
            <a:br>
              <a:rPr lang="hu-HU" b="1" cap="all" dirty="0"/>
            </a:br>
            <a:r>
              <a:rPr lang="hu-HU" sz="5000" b="1" dirty="0"/>
              <a:t/>
            </a:r>
            <a:br>
              <a:rPr lang="hu-HU" sz="5000" b="1" dirty="0"/>
            </a:br>
            <a:r>
              <a:rPr lang="hu-HU" sz="5000" dirty="0" smtClean="0"/>
              <a:t/>
            </a:r>
            <a:br>
              <a:rPr lang="hu-HU" sz="5000" dirty="0" smtClean="0"/>
            </a:br>
            <a:endParaRPr lang="hu-HU" sz="5000" dirty="0"/>
          </a:p>
        </p:txBody>
      </p:sp>
      <p:cxnSp>
        <p:nvCxnSpPr>
          <p:cNvPr id="8" name="Egyenes összekötő 7"/>
          <p:cNvCxnSpPr/>
          <p:nvPr/>
        </p:nvCxnSpPr>
        <p:spPr>
          <a:xfrm>
            <a:off x="407323" y="274316"/>
            <a:ext cx="4602" cy="764688"/>
          </a:xfrm>
          <a:prstGeom prst="line">
            <a:avLst/>
          </a:prstGeom>
          <a:ln w="66675">
            <a:solidFill>
              <a:srgbClr val="178D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3"/>
          <a:srcRect l="12487" t="5490" r="55974" b="65947"/>
          <a:stretch/>
        </p:blipFill>
        <p:spPr>
          <a:xfrm>
            <a:off x="771390" y="1853735"/>
            <a:ext cx="4813561" cy="224446"/>
          </a:xfrm>
          <a:prstGeom prst="rect">
            <a:avLst/>
          </a:prstGeom>
        </p:spPr>
      </p:pic>
      <p:pic>
        <p:nvPicPr>
          <p:cNvPr id="27" name="Kép 26"/>
          <p:cNvPicPr>
            <a:picLocks noChangeAspect="1"/>
          </p:cNvPicPr>
          <p:nvPr/>
        </p:nvPicPr>
        <p:blipFill rotWithShape="1">
          <a:blip r:embed="rId3"/>
          <a:srcRect l="12487" t="5490" r="55974" b="65947"/>
          <a:stretch/>
        </p:blipFill>
        <p:spPr>
          <a:xfrm>
            <a:off x="919731" y="1205649"/>
            <a:ext cx="4665220" cy="872531"/>
          </a:xfrm>
          <a:prstGeom prst="rect">
            <a:avLst/>
          </a:prstGeom>
        </p:spPr>
      </p:pic>
      <p:sp>
        <p:nvSpPr>
          <p:cNvPr id="12" name="Téglalap 11"/>
          <p:cNvSpPr/>
          <p:nvPr/>
        </p:nvSpPr>
        <p:spPr>
          <a:xfrm>
            <a:off x="771390" y="1258464"/>
            <a:ext cx="5878794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hu-HU" sz="20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Utoljára </a:t>
            </a:r>
            <a:r>
              <a:rPr lang="hu-HU" sz="2000" b="1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lerakott </a:t>
            </a:r>
            <a:r>
              <a:rPr lang="hu-HU" sz="2000" b="1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jel: </a:t>
            </a:r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</a:t>
            </a:r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5,5] </a:t>
            </a:r>
            <a:r>
              <a:rPr 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koordinátán) kiindulva </a:t>
            </a:r>
            <a:r>
              <a:rPr lang="hu-HU" sz="2000" dirty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szoftver mind a 4 irányban elvégzi a </a:t>
            </a:r>
            <a:r>
              <a:rPr lang="hu-HU" sz="2000" dirty="0" smtClean="0">
                <a:solidFill>
                  <a:srgbClr val="CBD5E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pásztázást</a:t>
            </a:r>
            <a:endParaRPr lang="hu-HU" sz="2000" b="1" dirty="0" smtClean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hu-HU" sz="2000" dirty="0">
              <a:solidFill>
                <a:srgbClr val="CBD5E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hu-HU" dirty="0"/>
          </a:p>
        </p:txBody>
      </p:sp>
      <p:graphicFrame>
        <p:nvGraphicFramePr>
          <p:cNvPr id="10" name="Tábláza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864489"/>
              </p:ext>
            </p:extLst>
          </p:nvPr>
        </p:nvGraphicFramePr>
        <p:xfrm>
          <a:off x="567517" y="2239064"/>
          <a:ext cx="7416556" cy="448311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854139">
                  <a:extLst>
                    <a:ext uri="{9D8B030D-6E8A-4147-A177-3AD203B41FA5}">
                      <a16:colId xmlns:a16="http://schemas.microsoft.com/office/drawing/2014/main" val="1134335598"/>
                    </a:ext>
                  </a:extLst>
                </a:gridCol>
                <a:gridCol w="1854139">
                  <a:extLst>
                    <a:ext uri="{9D8B030D-6E8A-4147-A177-3AD203B41FA5}">
                      <a16:colId xmlns:a16="http://schemas.microsoft.com/office/drawing/2014/main" val="3235783482"/>
                    </a:ext>
                  </a:extLst>
                </a:gridCol>
                <a:gridCol w="1854139">
                  <a:extLst>
                    <a:ext uri="{9D8B030D-6E8A-4147-A177-3AD203B41FA5}">
                      <a16:colId xmlns:a16="http://schemas.microsoft.com/office/drawing/2014/main" val="3486681903"/>
                    </a:ext>
                  </a:extLst>
                </a:gridCol>
                <a:gridCol w="1854139">
                  <a:extLst>
                    <a:ext uri="{9D8B030D-6E8A-4147-A177-3AD203B41FA5}">
                      <a16:colId xmlns:a16="http://schemas.microsoft.com/office/drawing/2014/main" val="3210516874"/>
                    </a:ext>
                  </a:extLst>
                </a:gridCol>
              </a:tblGrid>
              <a:tr h="488468">
                <a:tc>
                  <a:txBody>
                    <a:bodyPr/>
                    <a:lstStyle/>
                    <a:p>
                      <a:pPr algn="ctr"/>
                      <a:r>
                        <a:rPr lang="hu-HU" sz="1800" b="1" dirty="0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Irány</a:t>
                      </a:r>
                      <a:endParaRPr lang="hu-HU" sz="1200" b="1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b="1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Vektor </a:t>
                      </a:r>
                      <a:r>
                        <a:rPr lang="hu-HU" sz="1800" b="1" kern="1200" dirty="0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</a:t>
                      </a:r>
                      <a:r>
                        <a:rPr lang="hu-HU" sz="1800" b="1" kern="1200" dirty="0" err="1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sor,oszlop</a:t>
                      </a:r>
                      <a:r>
                        <a:rPr lang="hu-HU" sz="1800" b="1" kern="1200" dirty="0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</a:t>
                      </a:r>
                      <a:endParaRPr lang="hu-HU" sz="1800" b="1" kern="12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b="1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Geometriai leírás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800" b="1" kern="120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Logikai működés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060716"/>
                  </a:ext>
                </a:extLst>
              </a:tr>
              <a:tr h="914376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Vízszintes ellenőrzés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$(0, 1)$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sorindex fix marad, az oszlopindex nő vagy csökken.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Jobbra és balra pásztázás a legutóbbi jeltől.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10967"/>
                  </a:ext>
                </a:extLst>
              </a:tr>
              <a:tr h="701422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Függőleges ellenőrzés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$(1, 0)$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Az oszlopindex fix marad, a sorindex nő vagy csökken.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Fel és le pásztázás az adott oszlopban.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61103"/>
                  </a:ext>
                </a:extLst>
              </a:tr>
              <a:tr h="1127330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3</a:t>
                      </a:r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r>
                        <a:rPr lang="hu-HU" sz="1400" b="0" dirty="0" err="1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Főátló</a:t>
                      </a:r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ellenőrzés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$(1, 1)$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sor- és oszlopindex egyszerre növekszik vagy csökken.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Bal felülről jobb alulra tartó átló vizsgálata.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5463483"/>
                  </a:ext>
                </a:extLst>
              </a:tr>
              <a:tr h="1127330"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Mellékátló ellenőrzés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$(1, -1)$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sz="1400" b="0" dirty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sorindex nő, miközben az oszlopindex csökken (vagy fordítva).</a:t>
                      </a:r>
                    </a:p>
                  </a:txBody>
                  <a:tcPr marL="62681" marR="62681" marT="31340" marB="31340"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400" b="0" dirty="0" smtClean="0">
                          <a:solidFill>
                            <a:srgbClr val="00206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Jobb felülről bal alulra tartó átló vizsgálata.</a:t>
                      </a:r>
                    </a:p>
                    <a:p>
                      <a:pPr algn="ctr"/>
                      <a:endParaRPr lang="hu-HU" sz="1400" b="0" dirty="0">
                        <a:solidFill>
                          <a:srgbClr val="00206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2681" marR="62681" marT="31340" marB="31340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098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919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rotWithShape="1">
          <a:gsLst>
            <a:gs pos="0">
              <a:srgbClr val="1E1E29"/>
            </a:gs>
            <a:gs pos="100000">
              <a:srgbClr val="1E293B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251632" y="5328458"/>
            <a:ext cx="11450440" cy="1097977"/>
          </a:xfrm>
        </p:spPr>
        <p:txBody>
          <a:bodyPr>
            <a:noAutofit/>
          </a:bodyPr>
          <a:lstStyle/>
          <a:p>
            <a:pPr algn="ctr"/>
            <a:r>
              <a:rPr lang="hu-HU" b="1" dirty="0" smtClean="0"/>
              <a:t>KÖSZÖNÖM A FIGYELMET!</a:t>
            </a:r>
            <a:endParaRPr lang="hu-HU" sz="5000" b="1" dirty="0"/>
          </a:p>
        </p:txBody>
      </p:sp>
      <p:pic>
        <p:nvPicPr>
          <p:cNvPr id="8194" name="Picture 2" descr="Noughts and Crosses – Apps on Google Pla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661" y="989215"/>
            <a:ext cx="7714209" cy="38571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373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zálak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383</TotalTime>
  <Words>424</Words>
  <Application>Microsoft Office PowerPoint</Application>
  <PresentationFormat>Szélesvásznú</PresentationFormat>
  <Paragraphs>85</Paragraphs>
  <Slides>12</Slides>
  <Notes>0</Notes>
  <HiddenSlides>0</HiddenSlides>
  <MMClips>1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Century Gothic</vt:lpstr>
      <vt:lpstr>Poppins</vt:lpstr>
      <vt:lpstr>Wingdings 3</vt:lpstr>
      <vt:lpstr>Szálak</vt:lpstr>
      <vt:lpstr>Amőba Game v1.0 Felhasználói Útmutató és Kód Struktúra </vt:lpstr>
      <vt:lpstr>Felhasználói Útmutató </vt:lpstr>
      <vt:lpstr>Játék Indítása és Navigáció  </vt:lpstr>
      <vt:lpstr>Kétlépcsős Menürendszer   </vt:lpstr>
      <vt:lpstr>Játékmenet   </vt:lpstr>
      <vt:lpstr>PowerPoint-bemutató</vt:lpstr>
      <vt:lpstr>Mentés és Betöltés (Slots)  </vt:lpstr>
      <vt:lpstr>Betöltés (Slots) Lehetőségek  </vt:lpstr>
      <vt:lpstr>  Technikai Ismertető </vt:lpstr>
      <vt:lpstr>OOP És Class Structure   </vt:lpstr>
      <vt:lpstr>Győzelem-ellenőrző Algoritmus   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Amőba Game v1.0 </dc:title>
  <dc:creator>Dani</dc:creator>
  <cp:lastModifiedBy>Dani</cp:lastModifiedBy>
  <cp:revision>377</cp:revision>
  <dcterms:created xsi:type="dcterms:W3CDTF">2026-05-11T20:57:10Z</dcterms:created>
  <dcterms:modified xsi:type="dcterms:W3CDTF">2026-05-12T20:33:21Z</dcterms:modified>
</cp:coreProperties>
</file>